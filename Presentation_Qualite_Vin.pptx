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A26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3A2630"/>
                </a:solidFill>
                <a:latin typeface="Calibri"/>
              </a:rPr>
              <a:t>Distribution des classes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26769"/>
              </a:solidFill>
              <a:effectLst/>
            </c:spPr>
          </c:dPt>
          <c:dPt>
            <c:idx val="1"/>
            <c:bubble3D val="0"/>
            <c:spPr>
              <a:solidFill>
                <a:srgbClr val="6D2E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 bon (81 %)</c:v>
                </c:pt>
                <c:pt idx="1">
                  <c:v>Bon vin (19 %)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4311</c:v>
                </c:pt>
                <c:pt idx="1">
                  <c:v>1009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26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26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Rég. Log.</c:v>
                  </c:pt>
                  <c:pt idx="1">
                    <c:v>k-NN</c:v>
                  </c:pt>
                  <c:pt idx="2">
                    <c:v>Arbre</c:v>
                  </c:pt>
                  <c:pt idx="3">
                    <c:v>Naive Bayes</c:v>
                  </c:pt>
                  <c:pt idx="4">
                    <c:v>SVM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0.323</c:v>
                </c:pt>
                <c:pt idx="1">
                  <c:v>0.375</c:v>
                </c:pt>
                <c:pt idx="2">
                  <c:v>0.421</c:v>
                </c:pt>
                <c:pt idx="3">
                  <c:v>0.454</c:v>
                </c:pt>
                <c:pt idx="4">
                  <c:v>0.233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26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Rég. Log.</c:v>
                  </c:pt>
                  <c:pt idx="1">
                    <c:v>k-NN</c:v>
                  </c:pt>
                  <c:pt idx="2">
                    <c:v>Arbre</c:v>
                  </c:pt>
                  <c:pt idx="3">
                    <c:v>Naive Bayes</c:v>
                  </c:pt>
                  <c:pt idx="4">
                    <c:v>SVM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0.243</c:v>
                </c:pt>
                <c:pt idx="1">
                  <c:v>0.322</c:v>
                </c:pt>
                <c:pt idx="2">
                  <c:v>0.426</c:v>
                </c:pt>
                <c:pt idx="3">
                  <c:v>0.604</c:v>
                </c:pt>
                <c:pt idx="4">
                  <c:v>0.144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A26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6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12700" cap="flat">
              <a:solidFill>
                <a:srgbClr val="E6DD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A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26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avant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26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Rég. Log.</c:v>
                  </c:pt>
                  <c:pt idx="1">
                    <c:v>k-NN</c:v>
                  </c:pt>
                  <c:pt idx="2">
                    <c:v>Arbre</c:v>
                  </c:pt>
                  <c:pt idx="3">
                    <c:v>SVM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0.323</c:v>
                </c:pt>
                <c:pt idx="1">
                  <c:v>0.375</c:v>
                </c:pt>
                <c:pt idx="2">
                  <c:v>0.421</c:v>
                </c:pt>
                <c:pt idx="3">
                  <c:v>0.233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après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26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Rég. Log.</c:v>
                  </c:pt>
                  <c:pt idx="1">
                    <c:v>k-NN</c:v>
                  </c:pt>
                  <c:pt idx="2">
                    <c:v>Arbre</c:v>
                  </c:pt>
                  <c:pt idx="3">
                    <c:v>SVM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0.322</c:v>
                </c:pt>
                <c:pt idx="1">
                  <c:v>0.387</c:v>
                </c:pt>
                <c:pt idx="2">
                  <c:v>0.421</c:v>
                </c:pt>
                <c:pt idx="3">
                  <c:v>0.333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A26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6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12700" cap="flat">
              <a:solidFill>
                <a:srgbClr val="E6DD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A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26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optimisé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Rég. Log.</c:v>
                  </c:pt>
                  <c:pt idx="1">
                    <c:v>Arbre</c:v>
                  </c:pt>
                  <c:pt idx="2">
                    <c:v>SVM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0.243</c:v>
                </c:pt>
                <c:pt idx="1">
                  <c:v>0.426</c:v>
                </c:pt>
                <c:pt idx="2">
                  <c:v>0.233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balanced</c:v>
                </c:pt>
              </c:strCache>
            </c:strRef>
          </c:tx>
          <c:spPr>
            <a:solidFill>
              <a:srgbClr val="ECE2D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Rég. Log.</c:v>
                  </c:pt>
                  <c:pt idx="1">
                    <c:v>Arbre</c:v>
                  </c:pt>
                  <c:pt idx="2">
                    <c:v>SVM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0.762</c:v>
                </c:pt>
                <c:pt idx="1">
                  <c:v>0.401</c:v>
                </c:pt>
                <c:pt idx="2">
                  <c:v>0.787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4A34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CE2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A16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2A16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6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DE LA</a:t>
            </a:r>
            <a:endParaRPr lang="en-US" sz="44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DU VIN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si un vin est bon à partir de ses caractéristiques physico-chimiques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343400"/>
            <a:ext cx="2011680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760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1  —  EFREI Paris  —  2026-2027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6108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Clément EUGENE   •   Adrien BICHART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modèle de classification supervisée capable de prédire si un vin est bon à partir de ses mesures physico-chimiques (acidité, pH, alcool, sucre résiduel…).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: un vin est « bon » si sa qualité notée par des experts est ≥ 7 sur 10, « non bon » sinon.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5 320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vins (sans doublons)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82880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6D2E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explicatives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49840" y="182880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6D2E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14984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0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bons vins seulement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84048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données Wine Quality (UCI) : vins rouges et blancs du Vinho Verde portugais.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la Qualité du Vin — Machine Learning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&amp; prétraitement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Chargement, nettoyage, et un déséquilibre à prendre au sérieux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828800"/>
            <a:ext cx="128016" cy="1280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0" y="170992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0" y="2020824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rouge (1599) + vin blanc (4898), avec une colonne type conservée.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12080" y="2852928"/>
            <a:ext cx="128016" cy="1280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273405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 &amp; doublons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3044952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valeur manquante. 1 177 doublons supprimés → 5 320 vins.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12080" y="3877056"/>
            <a:ext cx="128016" cy="1280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0" y="375818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0" y="406908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Détectées par IQR (~21 % des lignes) mais conservées : mesures plausibles, pas des erreurs.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12080" y="4901184"/>
            <a:ext cx="128016" cy="1280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478231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0" y="5093208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19 % de bons vins → l'accuracy seule ne suffira pas à juger les modèles.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la Qualité du Vin — Machine Learning 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Sélection de variables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méthodes, un vote majoritaire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9202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corrélation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|corrélation| avec la cible ≥ 0,05, calculée sur le train uniquement.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66160" cy="19202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 (ANOVA)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variables avec le meilleur score 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66160" cy="19202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Élimination récursive via régression logistique, jusqu'à 6 variables.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est retenue si elle est choisie par au moins 2 méthodes sur 3 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29000" y="4434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4434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acidity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89720" y="4434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72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sugar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029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29000" y="50292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5029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variables conservées sur 12 — écartées : fixed acidity, citric acid, free/total sulfur dioxide, sulphates, pH.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la Qualité du Vin — Machine Learning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Modèles testés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approches linéaires et non linéaires, pour couvrir toutes les hypothèses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14600" y="1801368"/>
            <a:ext cx="2834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40680" y="1801368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et interprétable, mais limitée si la frontière n'est pas linéaire.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linéaire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14600" y="2697480"/>
            <a:ext cx="2834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0680" y="2697480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la distance aux voisins ; sensible à l'échelle et au bruit.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6D2E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7530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linéaire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14600" y="3593592"/>
            <a:ext cx="2834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3593592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standardisation, mais sujet au sur-apprentissage.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714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14600" y="4489704"/>
            <a:ext cx="2834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4489704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variables indépendantes et gaussiennes — peu réaliste ici.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6D2E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6752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linéaire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514600" y="5385816"/>
            <a:ext cx="2834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(noyau RBF)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5385816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complexes, plus coûteux à entraîner.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la Qualité du Vin — Machine Learning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 des modèles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par défaut — l'accuracy seule ne suffit pas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56692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imgs/courbes_r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440680" cy="39867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 le meilleur F1 (0,45) sans sur-apprentissage. L'arbre et le k-NN sur-apprennent (F1 train 1,0 et 0,60). Rég. logistique et SVM sous-apprennent (rappel 0,24 et 0,14), mais la rég. logistique a le meilleur AUC (0,81).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la Qualité du Vin — Machine Learning 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des hyperparamètres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/ Random Search + validation croisée 5-fold, sur le F1-score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91640"/>
            <a:ext cx="3749040" cy="4480560"/>
          </a:xfrm>
          <a:prstGeom prst="roundRect">
            <a:avLst>
              <a:gd name="adj" fmla="val 2439"/>
            </a:avLst>
          </a:prstGeom>
          <a:solidFill>
            <a:srgbClr val="6D2E46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SANS PONDÉRATION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38160" y="2286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138160" y="2880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d'hyperparamètre à régler, F1 train ≈ F1 test : pas de sur-apprentissage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3657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2640" y="3657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0,454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38160" y="4160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CV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92640" y="4160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0,488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38160" y="4663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92640" y="4663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0,604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38160" y="5394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L'optimisation apporte peu : le vrai problème est le déséquilibre.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la Qualité du Vin — Machine Learning 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déséquilibre des classes, et ce qu'on en retient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bons vins détectés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 modèle retenu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0" cy="237744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: pénalise plus les erreurs sur la classe minoritaire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566160" y="21945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915400" y="22860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rappel est multiplié par 3 pour la régression logistique et le SVM, et leur F1 monte à 0,50 (le meilleur du projet), au prix de l'accuracy. Aucun effet sur l'arbre.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349240"/>
            <a:ext cx="11064240" cy="10515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on retient la régression logistique avec class_weight="balanced" (F1 = 0,50, rappel = 0,76), plus simple que le SVM pour un score équivalent. Retirer les doublons était essentiel : ils gonflaient les scores du k-NN et de l'arbre.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la Qualité du Vin — Machine Learning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2026-10-14T16:06:56Z</dcterms:created>
  <dcterms:modified xsi:type="dcterms:W3CDTF">2026-10-14T16:06:56Z</dcterms:modified>
</cp:coreProperties>
</file>